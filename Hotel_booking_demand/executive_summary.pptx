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Google Sans" pitchFamily="2" charset="0"/>
      <p:regular r:id="rId4"/>
      <p:bold r:id="rId5"/>
      <p:italic r:id="rId6"/>
      <p:boldItalic r:id="rId7"/>
    </p:embeddedFont>
    <p:embeddedFont>
      <p:font typeface="Google Sans SemiBold" pitchFamily="2" charset="0"/>
      <p:regular r:id="rId8"/>
      <p:bold r:id="rId9"/>
      <p:italic r:id="rId10"/>
      <p:boldItalic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T Sans Narrow" panose="020B0506020203020204" pitchFamily="34" charset="77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Work Sans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34"/>
    <p:restoredTop sz="94631"/>
  </p:normalViewPr>
  <p:slideViewPr>
    <p:cSldViewPr snapToGrid="0">
      <p:cViewPr>
        <p:scale>
          <a:sx n="165" d="100"/>
          <a:sy n="165" d="100"/>
        </p:scale>
        <p:origin x="2696" y="-468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512140ae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512140ae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>
            <a:stCxn id="67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" name="Google Shape;68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9" name="Google Shape;6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" name="Google Shape;82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3" name="Google Shape;8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8" name="Google Shape;8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04" name="Google Shape;104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" name="Google Shape;113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14" name="Google Shape;114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6" name="Google Shape;116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0" name="Google Shape;120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25" name="Google Shape;125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0" name="Google Shape;130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35" name="Google Shape;135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0" name="Google Shape;150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6" name="Google Shape;156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1" name="Google Shape;16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65" name="Google Shape;165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0" name="Google Shape;170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1" name="Google Shape;17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5" name="Google Shape;175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7" name="Google Shape;177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2" name="Google Shape;182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1;p3">
            <a:extLst>
              <a:ext uri="{FF2B5EF4-FFF2-40B4-BE49-F238E27FC236}">
                <a16:creationId xmlns:a16="http://schemas.microsoft.com/office/drawing/2014/main" id="{872B88AA-59D0-7E73-C13D-FA03D1EA3C65}"/>
              </a:ext>
            </a:extLst>
          </p:cNvPr>
          <p:cNvSpPr/>
          <p:nvPr/>
        </p:nvSpPr>
        <p:spPr>
          <a:xfrm>
            <a:off x="159875" y="7183010"/>
            <a:ext cx="7612200" cy="269864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8"/>
          <p:cNvSpPr txBox="1"/>
          <p:nvPr/>
        </p:nvSpPr>
        <p:spPr>
          <a:xfrm>
            <a:off x="100575" y="1257300"/>
            <a:ext cx="2883300" cy="146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1100" dirty="0"/>
              <a:t>A large portion of bookings are cancelled, leading to significant revenue loss.</a:t>
            </a:r>
          </a:p>
          <a:p>
            <a:pPr lvl="0"/>
            <a:endParaRPr lang="en-GB" sz="1100" b="1" dirty="0"/>
          </a:p>
          <a:p>
            <a:pPr lvl="0"/>
            <a:r>
              <a:rPr lang="en-US" altLang="zh-CN" sz="1100" b="1" dirty="0"/>
              <a:t>Average</a:t>
            </a:r>
            <a:r>
              <a:rPr lang="zh-CN" altLang="en-US" sz="1100" b="1" dirty="0"/>
              <a:t> </a:t>
            </a:r>
            <a:r>
              <a:rPr lang="en-US" altLang="zh-CN" sz="1100" b="1" dirty="0"/>
              <a:t>cancellation</a:t>
            </a:r>
            <a:r>
              <a:rPr lang="zh-CN" altLang="en-US" sz="1100" b="1" dirty="0"/>
              <a:t> </a:t>
            </a:r>
            <a:r>
              <a:rPr lang="en-US" altLang="zh-CN" sz="1100" b="1" dirty="0"/>
              <a:t>rate: 28%</a:t>
            </a:r>
          </a:p>
          <a:p>
            <a:pPr lvl="0"/>
            <a:r>
              <a:rPr lang="en-US" sz="1100" b="1" dirty="0"/>
              <a:t>Revenue loss: 2.8 million</a:t>
            </a:r>
          </a:p>
          <a:p>
            <a:pPr lvl="0"/>
            <a:endParaRPr lang="en-GB" sz="1000" b="1" dirty="0"/>
          </a:p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900" dirty="0"/>
              <a:t>City hotel: 30% | 1.9 million</a:t>
            </a:r>
          </a:p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900" dirty="0"/>
              <a:t>Resort hotel: 24% | 0.9 million</a:t>
            </a:r>
            <a:endParaRPr lang="en-GB" sz="900" dirty="0"/>
          </a:p>
        </p:txBody>
      </p:sp>
      <p:sp>
        <p:nvSpPr>
          <p:cNvPr id="190" name="Google Shape;190;p8"/>
          <p:cNvSpPr txBox="1"/>
          <p:nvPr/>
        </p:nvSpPr>
        <p:spPr>
          <a:xfrm>
            <a:off x="100" y="67050"/>
            <a:ext cx="7772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Google Sans"/>
                <a:ea typeface="Google Sans"/>
                <a:cs typeface="Google Sans"/>
                <a:sym typeface="Google Sans"/>
              </a:rPr>
              <a:t>Hotel Booking Demand</a:t>
            </a:r>
            <a:endParaRPr sz="25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763100" y="490850"/>
            <a:ext cx="4246200" cy="5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 dirty="0">
                <a:latin typeface="PT Sans Narrow"/>
                <a:ea typeface="PT Sans Narrow"/>
                <a:cs typeface="PT Sans Narrow"/>
                <a:sym typeface="PT Sans Narrow"/>
              </a:rPr>
              <a:t>C</a:t>
            </a:r>
            <a:r>
              <a:rPr lang="en" sz="1200" dirty="0" err="1">
                <a:latin typeface="PT Sans Narrow"/>
                <a:ea typeface="PT Sans Narrow"/>
                <a:cs typeface="PT Sans Narrow"/>
                <a:sym typeface="PT Sans Narrow"/>
              </a:rPr>
              <a:t>ancellation</a:t>
            </a:r>
            <a:r>
              <a:rPr lang="en" sz="1200" dirty="0">
                <a:latin typeface="PT Sans Narrow"/>
                <a:ea typeface="PT Sans Narrow"/>
                <a:cs typeface="PT Sans Narrow"/>
                <a:sym typeface="PT Sans Narrow"/>
              </a:rPr>
              <a:t> problem Project </a:t>
            </a:r>
            <a:endParaRPr sz="1200" dirty="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3257550" y="3049358"/>
            <a:ext cx="431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Bar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plot</a:t>
            </a:r>
            <a:r>
              <a:rPr lang="en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above shows the most revenue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" sz="1000" b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leakage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concentrated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in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‘Online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TA(~80%)’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with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‘No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deposit(~96%)’</a:t>
            </a:r>
            <a:r>
              <a:rPr lang="en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.</a:t>
            </a: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Notations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：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+mn-lt"/>
                <a:ea typeface="Google Sans"/>
                <a:cs typeface="Google Sans"/>
                <a:sym typeface="Google Sans"/>
              </a:rPr>
              <a:t> cancellation rate, cancellation share, revenue loss, revenue loss share</a:t>
            </a:r>
            <a:endParaRPr sz="1000" b="1" i="1" dirty="0">
              <a:latin typeface="+mn-lt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3257549" y="6279231"/>
            <a:ext cx="4314001" cy="80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714"/>
              </a:lnSpc>
              <a:buSzPts val="275"/>
            </a:pPr>
            <a:r>
              <a:rPr lang="en-GB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Heatmap above shows </a:t>
            </a: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among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the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no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deposit</a:t>
            </a:r>
            <a:r>
              <a:rPr lang="zh-CN" altLang="en-US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cancellation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bookings,</a:t>
            </a:r>
            <a:r>
              <a:rPr lang="zh-CN" altLang="en-US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the most revenue</a:t>
            </a:r>
            <a:r>
              <a:rPr lang="en-GB" altLang="zh-CN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0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leakage</a:t>
            </a:r>
            <a:r>
              <a:rPr lang="en-GB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concentrated in “long lead time” </a:t>
            </a:r>
            <a:r>
              <a:rPr lang="en-GB" altLang="zh-CN" sz="1000" b="1" i="1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groups (&gt;30 </a:t>
            </a:r>
            <a:r>
              <a:rPr lang="en-GB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days) with high ‘</a:t>
            </a:r>
            <a:r>
              <a:rPr lang="en-US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ADR’</a:t>
            </a:r>
            <a:r>
              <a:rPr lang="en-GB" altLang="zh-CN" sz="1000" b="1" i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lang="en-GB" sz="1000" b="1" i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00575" y="3121701"/>
            <a:ext cx="28833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1100" dirty="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Unsecured long lead-time bookings function as “free options” for online TA customers.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b="1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100" b="1" dirty="0">
                <a:latin typeface="+mn-lt"/>
              </a:rPr>
              <a:t>No deposit → zero cancellation cost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100" b="1" dirty="0">
                <a:latin typeface="+mn-lt"/>
              </a:rPr>
              <a:t>Long lead time → high uncertainty</a:t>
            </a:r>
          </a:p>
        </p:txBody>
      </p:sp>
      <p:sp>
        <p:nvSpPr>
          <p:cNvPr id="197" name="Google Shape;197;p8"/>
          <p:cNvSpPr txBox="1"/>
          <p:nvPr/>
        </p:nvSpPr>
        <p:spPr>
          <a:xfrm>
            <a:off x="100574" y="4960030"/>
            <a:ext cx="2959715" cy="207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GB" sz="1100" dirty="0">
                <a:solidFill>
                  <a:schemeClr val="accent2"/>
                </a:solidFill>
                <a:latin typeface="Google Sans"/>
                <a:ea typeface="Google Sans"/>
                <a:cs typeface="Google Sans"/>
              </a:rPr>
              <a:t>Revenue loss is structurally concentrated in high-value, long lead-time bookings.</a:t>
            </a:r>
          </a:p>
          <a:p>
            <a:pPr lvl="0"/>
            <a:endParaRPr lang="en-US" sz="12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-GB" sz="900" b="1" dirty="0">
                <a:sym typeface="Google Sans"/>
              </a:rPr>
              <a:t>Lead time </a:t>
            </a:r>
            <a:r>
              <a:rPr lang="en-US" sz="900" b="1" dirty="0">
                <a:sym typeface="Google Sans"/>
              </a:rPr>
              <a:t>&gt;</a:t>
            </a:r>
            <a:r>
              <a:rPr lang="en-GB" sz="900" b="1" dirty="0">
                <a:sym typeface="Google Sans"/>
              </a:rPr>
              <a:t>30 days no deposit bookings: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ym typeface="Google Sans"/>
              </a:rPr>
              <a:t>City</a:t>
            </a:r>
            <a:r>
              <a:rPr lang="zh-CN" altLang="en-US" sz="900" dirty="0">
                <a:sym typeface="Google Sans"/>
              </a:rPr>
              <a:t> </a:t>
            </a:r>
            <a:r>
              <a:rPr lang="en-US" altLang="zh-CN" sz="900" dirty="0">
                <a:sym typeface="Google Sans"/>
              </a:rPr>
              <a:t>hotel revenue loss 1.3 million ~73%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 dirty="0">
                <a:sym typeface="Google Sans"/>
              </a:rPr>
              <a:t>Resort hotel revenue loss 0.7 million ~ 80% </a:t>
            </a:r>
          </a:p>
          <a:p>
            <a:endParaRPr lang="en-US" sz="900" dirty="0">
              <a:sym typeface="Google Sans"/>
            </a:endParaRPr>
          </a:p>
          <a:p>
            <a:r>
              <a:rPr lang="en-US" altLang="en-US" sz="1100" dirty="0">
                <a:solidFill>
                  <a:schemeClr val="accent2"/>
                </a:solidFill>
                <a:latin typeface="Google Sans"/>
                <a:ea typeface="Google Sans"/>
                <a:cs typeface="Google Sans"/>
              </a:rPr>
              <a:t>Estimated impact: addressing these bookings could reduce cancellation losses by ~20–40%, equivalent to €0.1M–€0.2M recovery (conservative estimate)</a:t>
            </a:r>
            <a:r>
              <a:rPr lang="en-US" altLang="zh-CN" sz="1100" dirty="0">
                <a:solidFill>
                  <a:schemeClr val="accent2"/>
                </a:solidFill>
                <a:latin typeface="Google Sans"/>
                <a:ea typeface="Google Sans"/>
                <a:cs typeface="Google Sans"/>
              </a:rPr>
              <a:t>.</a:t>
            </a:r>
            <a:endParaRPr lang="en-GB" sz="1100" dirty="0">
              <a:solidFill>
                <a:schemeClr val="accent2"/>
              </a:solidFill>
              <a:latin typeface="Google Sans"/>
              <a:ea typeface="Google Sans"/>
              <a:cs typeface="Google Sans"/>
            </a:endParaRPr>
          </a:p>
          <a:p>
            <a:endParaRPr sz="900" dirty="0">
              <a:sym typeface="Google Sans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70316" y="7336124"/>
            <a:ext cx="7401233" cy="328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87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</a:pPr>
            <a:r>
              <a:rPr lang="en-US" sz="1000" b="1" dirty="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Key insight</a:t>
            </a:r>
          </a:p>
          <a:p>
            <a:pPr marL="330200" indent="-1714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latin typeface="Google Sans"/>
                <a:ea typeface="Google Sans"/>
                <a:cs typeface="Google Sans"/>
                <a:sym typeface="Google Sans"/>
              </a:rPr>
              <a:t>The issue is not demand, but the lack of commitment in early bookings.</a:t>
            </a:r>
            <a:r>
              <a:rPr lang="zh-CN" altLang="en-US" sz="1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lang="en-US" sz="1000" b="1" dirty="0">
              <a:solidFill>
                <a:srgbClr val="FF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587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</a:pPr>
            <a:r>
              <a:rPr lang="en-US" sz="1000" b="1" dirty="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</a:t>
            </a:r>
            <a:endParaRPr lang="en-US" sz="10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1587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</a:pPr>
            <a:r>
              <a:rPr lang="en-GB" sz="1000" b="1" i="1" dirty="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Top Priority Focus on OTA bookings with lead time &gt; 30 days( largest revenue leakage segment)</a:t>
            </a:r>
          </a:p>
          <a:p>
            <a:pPr marL="330200" indent="-1714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000" b="1" dirty="0">
                <a:latin typeface="Google Sans"/>
                <a:ea typeface="Google Sans"/>
                <a:cs typeface="Google Sans"/>
                <a:sym typeface="Google Sans"/>
              </a:rPr>
              <a:t>Lead-time-based deposit policy</a:t>
            </a:r>
            <a:r>
              <a:rPr lang="en-US" sz="1000" dirty="0">
                <a:latin typeface="Google Sans"/>
                <a:ea typeface="Google Sans"/>
                <a:cs typeface="Google Sans"/>
                <a:sym typeface="Google Sans"/>
              </a:rPr>
              <a:t>,  8~30 days conditional refundable,  31+ days needs deposit or non-refundable options.</a:t>
            </a:r>
          </a:p>
          <a:p>
            <a:pPr marL="330200" indent="-1714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b="1" dirty="0">
                <a:latin typeface="Google Sans"/>
                <a:ea typeface="Google Sans"/>
                <a:cs typeface="Google Sans"/>
                <a:sym typeface="Google Sans"/>
              </a:rPr>
              <a:t>Rate structure redesign</a:t>
            </a:r>
            <a:r>
              <a:rPr lang="en-US" sz="1000" dirty="0">
                <a:latin typeface="Google Sans"/>
                <a:ea typeface="Google Sans"/>
                <a:cs typeface="Google Sans"/>
                <a:sym typeface="Google Sans"/>
              </a:rPr>
              <a:t>, more discount means ‘</a:t>
            </a:r>
            <a:r>
              <a:rPr lang="en-US" altLang="en-US" sz="1000" dirty="0">
                <a:latin typeface="Google Sans"/>
                <a:ea typeface="Google Sans"/>
                <a:cs typeface="Google Sans"/>
              </a:rPr>
              <a:t>non- refundable’,  less discount means more flexible choice.</a:t>
            </a:r>
          </a:p>
          <a:p>
            <a:pPr marL="330200" indent="-1714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1000" b="1" dirty="0"/>
              <a:t>Channel – specific optimization, </a:t>
            </a:r>
            <a:r>
              <a:rPr lang="en-US" altLang="en-US" sz="1000" dirty="0"/>
              <a:t>focus on OTA(online and offline) channel, with direct channel could be flexible to keep loyalty.</a:t>
            </a:r>
          </a:p>
          <a:p>
            <a:pPr marL="1587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</a:pPr>
            <a:r>
              <a:rPr lang="en-US" altLang="en-US" sz="1000" dirty="0"/>
              <a:t>OTA is not risky per se, but becomes high-risk when combined with no-deposit policies and long lead-time bookings.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000" b="1" dirty="0">
              <a:latin typeface="Arial" panose="020B0604020202020204" pitchFamily="34" charset="0"/>
              <a:ea typeface="-webkit-standard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30200" indent="-171450">
              <a:lnSpc>
                <a:spcPct val="115000"/>
              </a:lnSpc>
              <a:spcBef>
                <a:spcPts val="600"/>
              </a:spcBef>
              <a:buClr>
                <a:schemeClr val="accent2"/>
              </a:buClr>
              <a:buSzPts val="1100"/>
              <a:buFont typeface="Arial" panose="020B0604020202020204" pitchFamily="34" charset="0"/>
              <a:buChar char="•"/>
            </a:pPr>
            <a:endParaRPr lang="en-US" sz="10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C8226B-F798-412F-3EED-B154DD849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060" y="4301867"/>
            <a:ext cx="4549765" cy="19136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6440AF-892F-9E03-E1E9-5113652C0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394" y="1139991"/>
            <a:ext cx="4506431" cy="1867101"/>
          </a:xfrm>
          <a:prstGeom prst="rect">
            <a:avLst/>
          </a:prstGeom>
        </p:spPr>
      </p:pic>
      <p:sp>
        <p:nvSpPr>
          <p:cNvPr id="18" name="Google Shape;92;p3">
            <a:extLst>
              <a:ext uri="{FF2B5EF4-FFF2-40B4-BE49-F238E27FC236}">
                <a16:creationId xmlns:a16="http://schemas.microsoft.com/office/drawing/2014/main" id="{C3A4F99B-83FC-4991-20C7-23126D946CC1}"/>
              </a:ext>
            </a:extLst>
          </p:cNvPr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9" name="Google Shape;93;p3">
            <a:extLst>
              <a:ext uri="{FF2B5EF4-FFF2-40B4-BE49-F238E27FC236}">
                <a16:creationId xmlns:a16="http://schemas.microsoft.com/office/drawing/2014/main" id="{BDB4093C-AA5F-F6E7-262B-61E019049F7D}"/>
              </a:ext>
            </a:extLst>
          </p:cNvPr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0" name="Google Shape;94;p3">
              <a:extLst>
                <a:ext uri="{FF2B5EF4-FFF2-40B4-BE49-F238E27FC236}">
                  <a16:creationId xmlns:a16="http://schemas.microsoft.com/office/drawing/2014/main" id="{6805662D-F0BD-F940-49EC-3714A4FFA34C}"/>
                </a:ext>
              </a:extLst>
            </p:cNvPr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5;p3">
              <a:extLst>
                <a:ext uri="{FF2B5EF4-FFF2-40B4-BE49-F238E27FC236}">
                  <a16:creationId xmlns:a16="http://schemas.microsoft.com/office/drawing/2014/main" id="{5C9D8CF7-B752-8EB1-E4B6-BB1E811F9E43}"/>
                </a:ext>
              </a:extLst>
            </p:cNvPr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96;p3">
            <a:extLst>
              <a:ext uri="{FF2B5EF4-FFF2-40B4-BE49-F238E27FC236}">
                <a16:creationId xmlns:a16="http://schemas.microsoft.com/office/drawing/2014/main" id="{AA89619D-91D5-5B65-E630-77A06E11F8DF}"/>
              </a:ext>
            </a:extLst>
          </p:cNvPr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MECHANISM</a:t>
            </a:r>
            <a:endParaRPr sz="1500" dirty="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3" name="Google Shape;97;p3">
            <a:extLst>
              <a:ext uri="{FF2B5EF4-FFF2-40B4-BE49-F238E27FC236}">
                <a16:creationId xmlns:a16="http://schemas.microsoft.com/office/drawing/2014/main" id="{E637F42A-FBC5-D717-C18A-18859AE043BE}"/>
              </a:ext>
            </a:extLst>
          </p:cNvPr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4" name="Google Shape;98;p3">
              <a:extLst>
                <a:ext uri="{FF2B5EF4-FFF2-40B4-BE49-F238E27FC236}">
                  <a16:creationId xmlns:a16="http://schemas.microsoft.com/office/drawing/2014/main" id="{8643C911-076A-07B7-C079-322DE6DC7A53}"/>
                </a:ext>
              </a:extLst>
            </p:cNvPr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9;p3">
              <a:extLst>
                <a:ext uri="{FF2B5EF4-FFF2-40B4-BE49-F238E27FC236}">
                  <a16:creationId xmlns:a16="http://schemas.microsoft.com/office/drawing/2014/main" id="{F57EDA64-8EED-F9F5-5470-7362CD8156FE}"/>
                </a:ext>
              </a:extLst>
            </p:cNvPr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00;p3">
            <a:extLst>
              <a:ext uri="{FF2B5EF4-FFF2-40B4-BE49-F238E27FC236}">
                <a16:creationId xmlns:a16="http://schemas.microsoft.com/office/drawing/2014/main" id="{6D4D12F1-C2A2-9EB4-F53C-D0A2A0F43CB5}"/>
              </a:ext>
            </a:extLst>
          </p:cNvPr>
          <p:cNvSpPr txBox="1"/>
          <p:nvPr/>
        </p:nvSpPr>
        <p:spPr>
          <a:xfrm>
            <a:off x="290394" y="4547474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" name="Google Shape;101;p3">
            <a:extLst>
              <a:ext uri="{FF2B5EF4-FFF2-40B4-BE49-F238E27FC236}">
                <a16:creationId xmlns:a16="http://schemas.microsoft.com/office/drawing/2014/main" id="{C5AC6493-F8C9-A2D1-2D8A-97A0F093D9C4}"/>
              </a:ext>
            </a:extLst>
          </p:cNvPr>
          <p:cNvGrpSpPr/>
          <p:nvPr/>
        </p:nvGrpSpPr>
        <p:grpSpPr>
          <a:xfrm>
            <a:off x="172024" y="4653799"/>
            <a:ext cx="137818" cy="187200"/>
            <a:chOff x="507100" y="1997600"/>
            <a:chExt cx="158375" cy="187200"/>
          </a:xfrm>
        </p:grpSpPr>
        <p:sp>
          <p:nvSpPr>
            <p:cNvPr id="28" name="Google Shape;102;p3">
              <a:extLst>
                <a:ext uri="{FF2B5EF4-FFF2-40B4-BE49-F238E27FC236}">
                  <a16:creationId xmlns:a16="http://schemas.microsoft.com/office/drawing/2014/main" id="{4BFBDDE1-668E-98A9-9630-B30F49DCB7EF}"/>
                </a:ext>
              </a:extLst>
            </p:cNvPr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3;p3">
              <a:extLst>
                <a:ext uri="{FF2B5EF4-FFF2-40B4-BE49-F238E27FC236}">
                  <a16:creationId xmlns:a16="http://schemas.microsoft.com/office/drawing/2014/main" id="{1167FCB5-2D3D-C53A-FD41-C0BFFD1FD8CC}"/>
                </a:ext>
              </a:extLst>
            </p:cNvPr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105;p3">
            <a:extLst>
              <a:ext uri="{FF2B5EF4-FFF2-40B4-BE49-F238E27FC236}">
                <a16:creationId xmlns:a16="http://schemas.microsoft.com/office/drawing/2014/main" id="{E47A9EAC-4479-01C8-46B3-980029C04A92}"/>
              </a:ext>
            </a:extLst>
          </p:cNvPr>
          <p:cNvSpPr txBox="1"/>
          <p:nvPr/>
        </p:nvSpPr>
        <p:spPr>
          <a:xfrm>
            <a:off x="315596" y="714948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Work Sans"/>
                <a:ea typeface="Work Sans"/>
                <a:cs typeface="Work Sans"/>
                <a:sym typeface="Work Sans"/>
              </a:rPr>
              <a:t>INSIGHTS/NEXT STEPS</a:t>
            </a:r>
            <a:endParaRPr sz="1500" dirty="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" name="Google Shape;106;p3">
            <a:extLst>
              <a:ext uri="{FF2B5EF4-FFF2-40B4-BE49-F238E27FC236}">
                <a16:creationId xmlns:a16="http://schemas.microsoft.com/office/drawing/2014/main" id="{F80E2362-8B27-231F-C743-407573800074}"/>
              </a:ext>
            </a:extLst>
          </p:cNvPr>
          <p:cNvGrpSpPr/>
          <p:nvPr/>
        </p:nvGrpSpPr>
        <p:grpSpPr>
          <a:xfrm>
            <a:off x="172024" y="7254938"/>
            <a:ext cx="137818" cy="187200"/>
            <a:chOff x="507100" y="1997600"/>
            <a:chExt cx="158375" cy="187200"/>
          </a:xfrm>
        </p:grpSpPr>
        <p:sp>
          <p:nvSpPr>
            <p:cNvPr id="32" name="Google Shape;107;p3">
              <a:extLst>
                <a:ext uri="{FF2B5EF4-FFF2-40B4-BE49-F238E27FC236}">
                  <a16:creationId xmlns:a16="http://schemas.microsoft.com/office/drawing/2014/main" id="{DAECB7B6-264D-2213-EB45-CFFCFDB43AF8}"/>
                </a:ext>
              </a:extLst>
            </p:cNvPr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8;p3">
              <a:extLst>
                <a:ext uri="{FF2B5EF4-FFF2-40B4-BE49-F238E27FC236}">
                  <a16:creationId xmlns:a16="http://schemas.microsoft.com/office/drawing/2014/main" id="{391E81B3-E3E5-E496-7D1C-E3A65E87A5BB}"/>
                </a:ext>
              </a:extLst>
            </p:cNvPr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337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PT Sans Narrow</vt:lpstr>
      <vt:lpstr>Lato</vt:lpstr>
      <vt:lpstr>Google Sans</vt:lpstr>
      <vt:lpstr>Roboto</vt:lpstr>
      <vt:lpstr>Arial</vt:lpstr>
      <vt:lpstr>Google Sans SemiBold</vt:lpstr>
      <vt:lpstr>Work Sans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茜 陈</cp:lastModifiedBy>
  <cp:revision>4</cp:revision>
  <dcterms:modified xsi:type="dcterms:W3CDTF">2026-03-27T10:16:09Z</dcterms:modified>
</cp:coreProperties>
</file>